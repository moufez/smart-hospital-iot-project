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1" r:id="rId5"/>
  </p:sldIdLst>
  <p:sldSz cx="18288000" cy="10287000"/>
  <p:notesSz cx="6858000" cy="9144000"/>
  <p:embeddedFontLst>
    <p:embeddedFont>
      <p:font typeface="Clear Sans" panose="020B0604020202020204" charset="0"/>
      <p:regular r:id="rId6"/>
    </p:embeddedFont>
    <p:embeddedFont>
      <p:font typeface="Clear Sans Bold" panose="020B0604020202020204" charset="0"/>
      <p:regular r:id="rId7"/>
    </p:embeddedFont>
    <p:embeddedFont>
      <p:font typeface="Clear Sans Medium" panose="020B0604020202020204" charset="0"/>
      <p:regular r:id="rId8"/>
    </p:embeddedFont>
    <p:embeddedFont>
      <p:font typeface="Sitka Heading" panose="02000505000000020004" pitchFamily="2" charset="0"/>
      <p:regular r:id="rId9"/>
      <p:bold r:id="rId10"/>
      <p:italic r:id="rId11"/>
      <p:boldItalic r:id="rId12"/>
    </p:embeddedFont>
    <p:embeddedFont>
      <p:font typeface="Tenor Sans"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7" d="100"/>
          <a:sy n="67" d="100"/>
        </p:scale>
        <p:origin x="4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2" name="Group 2"/>
          <p:cNvGrpSpPr/>
          <p:nvPr/>
        </p:nvGrpSpPr>
        <p:grpSpPr>
          <a:xfrm>
            <a:off x="490242" y="4381500"/>
            <a:ext cx="8348958" cy="5087797"/>
            <a:chOff x="0" y="3672268"/>
            <a:chExt cx="11131943" cy="6783730"/>
          </a:xfrm>
        </p:grpSpPr>
        <p:sp>
          <p:nvSpPr>
            <p:cNvPr id="3" name="TextBox 3"/>
            <p:cNvSpPr txBox="1"/>
            <p:nvPr/>
          </p:nvSpPr>
          <p:spPr>
            <a:xfrm>
              <a:off x="768744" y="3672268"/>
              <a:ext cx="10363199" cy="742084"/>
            </a:xfrm>
            <a:prstGeom prst="rect">
              <a:avLst/>
            </a:prstGeom>
          </p:spPr>
          <p:txBody>
            <a:bodyPr wrap="square" lIns="0" tIns="0" rIns="0" bIns="0" rtlCol="0" anchor="t">
              <a:spAutoFit/>
            </a:bodyPr>
            <a:lstStyle/>
            <a:p>
              <a:pPr marL="0" lvl="0" indent="0" algn="l">
                <a:lnSpc>
                  <a:spcPts val="2811"/>
                </a:lnSpc>
                <a:spcBef>
                  <a:spcPct val="0"/>
                </a:spcBef>
              </a:pPr>
              <a:r>
                <a:rPr lang="en-US" sz="9600" u="none" strike="noStrike" spc="-56" dirty="0">
                  <a:solidFill>
                    <a:schemeClr val="accent1"/>
                  </a:solidFill>
                  <a:latin typeface="Sitka Heading" panose="02000505000000020004" pitchFamily="2" charset="0"/>
                  <a:ea typeface="Tenor Sans"/>
                  <a:cs typeface="Tenor Sans"/>
                  <a:sym typeface="Tenor Sans"/>
                </a:rPr>
                <a:t>Mini </a:t>
              </a:r>
              <a:r>
                <a:rPr lang="en-US" sz="9600" u="none" strike="noStrike" spc="-56" dirty="0" err="1">
                  <a:solidFill>
                    <a:schemeClr val="accent1"/>
                  </a:solidFill>
                  <a:latin typeface="Sitka Heading" panose="02000505000000020004" pitchFamily="2" charset="0"/>
                  <a:ea typeface="Tenor Sans"/>
                  <a:cs typeface="Tenor Sans"/>
                  <a:sym typeface="Tenor Sans"/>
                </a:rPr>
                <a:t>Projet</a:t>
              </a:r>
              <a:endParaRPr lang="en-US" sz="9600" u="none" strike="noStrike" spc="-56" dirty="0">
                <a:solidFill>
                  <a:schemeClr val="accent1"/>
                </a:solidFill>
                <a:latin typeface="Sitka Heading" panose="02000505000000020004" pitchFamily="2" charset="0"/>
                <a:ea typeface="Tenor Sans"/>
                <a:cs typeface="Tenor Sans"/>
                <a:sym typeface="Tenor Sans"/>
              </a:endParaRPr>
            </a:p>
          </p:txBody>
        </p:sp>
        <p:sp>
          <p:nvSpPr>
            <p:cNvPr id="4" name="TextBox 4"/>
            <p:cNvSpPr txBox="1"/>
            <p:nvPr/>
          </p:nvSpPr>
          <p:spPr>
            <a:xfrm>
              <a:off x="0" y="10060334"/>
              <a:ext cx="7320742" cy="395664"/>
            </a:xfrm>
            <a:prstGeom prst="rect">
              <a:avLst/>
            </a:prstGeom>
          </p:spPr>
          <p:txBody>
            <a:bodyPr lIns="0" tIns="0" rIns="0" bIns="0" rtlCol="0" anchor="t">
              <a:spAutoFit/>
            </a:bodyPr>
            <a:lstStyle/>
            <a:p>
              <a:pPr marL="0" lvl="0" indent="0" algn="l">
                <a:lnSpc>
                  <a:spcPts val="2519"/>
                </a:lnSpc>
                <a:spcBef>
                  <a:spcPct val="0"/>
                </a:spcBef>
              </a:pPr>
              <a:r>
                <a:rPr lang="en-US" sz="1799" u="none" strike="noStrike" dirty="0">
                  <a:solidFill>
                    <a:srgbClr val="F9FAFB"/>
                  </a:solidFill>
                  <a:latin typeface="Clear Sans"/>
                  <a:ea typeface="Clear Sans"/>
                  <a:cs typeface="Clear Sans"/>
                  <a:sym typeface="Clear Sans"/>
                </a:rPr>
                <a:t>NOM &amp; PRÉNOM : MOUFEZ KHADROUI |  </a:t>
              </a:r>
            </a:p>
          </p:txBody>
        </p:sp>
      </p:grpSp>
      <p:grpSp>
        <p:nvGrpSpPr>
          <p:cNvPr id="5" name="Group 5"/>
          <p:cNvGrpSpPr/>
          <p:nvPr/>
        </p:nvGrpSpPr>
        <p:grpSpPr>
          <a:xfrm>
            <a:off x="12172950" y="0"/>
            <a:ext cx="6115050" cy="10287000"/>
            <a:chOff x="0" y="0"/>
            <a:chExt cx="947381" cy="1593725"/>
          </a:xfrm>
        </p:grpSpPr>
        <p:sp>
          <p:nvSpPr>
            <p:cNvPr id="6" name="Freeform 6"/>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txBody>
            <a:bodyPr/>
            <a:lstStyle/>
            <a:p>
              <a:endParaRPr lang="en-GB"/>
            </a:p>
          </p:txBody>
        </p:sp>
      </p:grpSp>
      <p:sp>
        <p:nvSpPr>
          <p:cNvPr id="7" name="Freeform 7"/>
          <p:cNvSpPr/>
          <p:nvPr/>
        </p:nvSpPr>
        <p:spPr>
          <a:xfrm>
            <a:off x="8774635" y="7396104"/>
            <a:ext cx="6274865" cy="4114800"/>
          </a:xfrm>
          <a:custGeom>
            <a:avLst/>
            <a:gdLst/>
            <a:ahLst/>
            <a:cxnLst/>
            <a:rect l="l" t="t" r="r" b="b"/>
            <a:pathLst>
              <a:path w="6274865" h="4114800">
                <a:moveTo>
                  <a:pt x="0" y="0"/>
                </a:moveTo>
                <a:lnTo>
                  <a:pt x="6274865" y="0"/>
                </a:lnTo>
                <a:lnTo>
                  <a:pt x="6274865"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TextBox 2"/>
          <p:cNvSpPr txBox="1"/>
          <p:nvPr/>
        </p:nvSpPr>
        <p:spPr>
          <a:xfrm>
            <a:off x="666750" y="1562086"/>
            <a:ext cx="8324850" cy="2114550"/>
          </a:xfrm>
          <a:prstGeom prst="rect">
            <a:avLst/>
          </a:prstGeom>
        </p:spPr>
        <p:txBody>
          <a:bodyPr lIns="0" tIns="0" rIns="0" bIns="0" rtlCol="0" anchor="t">
            <a:spAutoFit/>
          </a:bodyPr>
          <a:lstStyle/>
          <a:p>
            <a:pPr marL="0" lvl="0" indent="0" algn="l">
              <a:lnSpc>
                <a:spcPts val="8399"/>
              </a:lnSpc>
              <a:spcBef>
                <a:spcPct val="0"/>
              </a:spcBef>
            </a:pPr>
            <a:r>
              <a:rPr lang="en-US" sz="6999" u="none" strike="noStrike" spc="-139">
                <a:solidFill>
                  <a:srgbClr val="3B82F6"/>
                </a:solidFill>
                <a:latin typeface="Tenor Sans"/>
                <a:ea typeface="Tenor Sans"/>
                <a:cs typeface="Tenor Sans"/>
                <a:sym typeface="Tenor Sans"/>
              </a:rPr>
              <a:t>Introduction Générale</a:t>
            </a:r>
          </a:p>
        </p:txBody>
      </p:sp>
      <p:grpSp>
        <p:nvGrpSpPr>
          <p:cNvPr id="3" name="Group 3"/>
          <p:cNvGrpSpPr/>
          <p:nvPr/>
        </p:nvGrpSpPr>
        <p:grpSpPr>
          <a:xfrm>
            <a:off x="11346717" y="695282"/>
            <a:ext cx="5448300" cy="7738427"/>
            <a:chOff x="0" y="0"/>
            <a:chExt cx="7264400" cy="10317902"/>
          </a:xfrm>
        </p:grpSpPr>
        <p:sp>
          <p:nvSpPr>
            <p:cNvPr id="4" name="TextBox 4"/>
            <p:cNvSpPr txBox="1"/>
            <p:nvPr/>
          </p:nvSpPr>
          <p:spPr>
            <a:xfrm>
              <a:off x="0" y="-47625"/>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u="none" strike="noStrike">
                  <a:solidFill>
                    <a:srgbClr val="9CA3AF"/>
                  </a:solidFill>
                  <a:latin typeface="Clear Sans Medium"/>
                  <a:ea typeface="Clear Sans Medium"/>
                  <a:cs typeface="Clear Sans Medium"/>
                  <a:sym typeface="Clear Sans Medium"/>
                </a:rPr>
                <a:t>SCÉNARIO : HÔPITAL INTELLIGENT</a:t>
              </a:r>
            </a:p>
          </p:txBody>
        </p:sp>
        <p:sp>
          <p:nvSpPr>
            <p:cNvPr id="5" name="TextBox 5"/>
            <p:cNvSpPr txBox="1"/>
            <p:nvPr/>
          </p:nvSpPr>
          <p:spPr>
            <a:xfrm>
              <a:off x="0" y="878058"/>
              <a:ext cx="7264400" cy="4878136"/>
            </a:xfrm>
            <a:prstGeom prst="rect">
              <a:avLst/>
            </a:prstGeom>
          </p:spPr>
          <p:txBody>
            <a:bodyPr lIns="0" tIns="0" rIns="0" bIns="0" rtlCol="0" anchor="t">
              <a:spAutoFit/>
            </a:bodyPr>
            <a:lstStyle/>
            <a:p>
              <a:pPr marL="0" lvl="0" indent="0" algn="l">
                <a:lnSpc>
                  <a:spcPts val="2939"/>
                </a:lnSpc>
                <a:spcBef>
                  <a:spcPct val="0"/>
                </a:spcBef>
              </a:pPr>
              <a:r>
                <a:rPr lang="en-US" sz="2099" u="none" strike="noStrike">
                  <a:solidFill>
                    <a:srgbClr val="F9FAFB"/>
                  </a:solidFill>
                  <a:latin typeface="Clear Sans"/>
                  <a:ea typeface="Clear Sans"/>
                  <a:cs typeface="Clear Sans"/>
                  <a:sym typeface="Clear Sans"/>
                </a:rPr>
                <a:t>Dans un hôpital moderne, le responsable souhaite réduire les risques de vol, de contamination et d'intrusion en limitant la présence de gardes malades. Il demande une solution IoT permettant aux patients de signaler un danger via smartphone, de contrôler les fenêtres selon la température, et aux responsables de surveiller les mouvements depuis une salle de contrôle avec déclenchement automatique d'alarme.</a:t>
              </a:r>
            </a:p>
          </p:txBody>
        </p:sp>
        <p:sp>
          <p:nvSpPr>
            <p:cNvPr id="6" name="TextBox 6"/>
            <p:cNvSpPr txBox="1"/>
            <p:nvPr/>
          </p:nvSpPr>
          <p:spPr>
            <a:xfrm>
              <a:off x="0" y="6964899"/>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u="none" strike="noStrike">
                  <a:solidFill>
                    <a:srgbClr val="9CA3AF"/>
                  </a:solidFill>
                  <a:latin typeface="Clear Sans Medium"/>
                  <a:ea typeface="Clear Sans Medium"/>
                  <a:cs typeface="Clear Sans Medium"/>
                  <a:sym typeface="Clear Sans Medium"/>
                </a:rPr>
                <a:t>OBJECTIFS DU PROJET</a:t>
              </a:r>
            </a:p>
          </p:txBody>
        </p:sp>
        <p:sp>
          <p:nvSpPr>
            <p:cNvPr id="7" name="TextBox 7"/>
            <p:cNvSpPr txBox="1"/>
            <p:nvPr/>
          </p:nvSpPr>
          <p:spPr>
            <a:xfrm>
              <a:off x="0" y="7890582"/>
              <a:ext cx="7264400" cy="2427320"/>
            </a:xfrm>
            <a:prstGeom prst="rect">
              <a:avLst/>
            </a:prstGeom>
          </p:spPr>
          <p:txBody>
            <a:bodyPr lIns="0" tIns="0" rIns="0" bIns="0" rtlCol="0" anchor="t">
              <a:spAutoFit/>
            </a:bodyPr>
            <a:lstStyle/>
            <a:p>
              <a:pPr marL="0" lvl="0" indent="0" algn="l">
                <a:lnSpc>
                  <a:spcPts val="2939"/>
                </a:lnSpc>
                <a:spcBef>
                  <a:spcPct val="0"/>
                </a:spcBef>
              </a:pPr>
              <a:r>
                <a:rPr lang="en-US" sz="2099" u="none" strike="noStrike">
                  <a:solidFill>
                    <a:srgbClr val="F9FAFB"/>
                  </a:solidFill>
                  <a:latin typeface="Clear Sans"/>
                  <a:ea typeface="Clear Sans"/>
                  <a:cs typeface="Clear Sans"/>
                  <a:sym typeface="Clear Sans"/>
                </a:rPr>
                <a:t>Déployer des capteurs et actionneurs IoT. Configurer le réseau (DHCP, OSPF, points d'accès). Automatiser les objets selon des conditions. Tester la connectivité et les alertes via Cisco Packet Tracer.</a:t>
              </a:r>
            </a:p>
          </p:txBody>
        </p:sp>
      </p:grpSp>
      <p:sp>
        <p:nvSpPr>
          <p:cNvPr id="8" name="Freeform 8"/>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Freeform 2"/>
          <p:cNvSpPr/>
          <p:nvPr/>
        </p:nvSpPr>
        <p:spPr>
          <a:xfrm rot="-10087176">
            <a:off x="3189187" y="-10712043"/>
            <a:ext cx="14136818" cy="12003443"/>
          </a:xfrm>
          <a:custGeom>
            <a:avLst/>
            <a:gdLst/>
            <a:ahLst/>
            <a:cxnLst/>
            <a:rect l="l" t="t" r="r" b="b"/>
            <a:pathLst>
              <a:path w="14136818" h="12003443">
                <a:moveTo>
                  <a:pt x="0" y="0"/>
                </a:moveTo>
                <a:lnTo>
                  <a:pt x="14136818" y="0"/>
                </a:lnTo>
                <a:lnTo>
                  <a:pt x="14136818" y="12003443"/>
                </a:lnTo>
                <a:lnTo>
                  <a:pt x="0" y="1200344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3" name="TextBox 3"/>
          <p:cNvSpPr txBox="1"/>
          <p:nvPr/>
        </p:nvSpPr>
        <p:spPr>
          <a:xfrm>
            <a:off x="2105025" y="1562100"/>
            <a:ext cx="14077950" cy="1055948"/>
          </a:xfrm>
          <a:prstGeom prst="rect">
            <a:avLst/>
          </a:prstGeom>
        </p:spPr>
        <p:txBody>
          <a:bodyPr lIns="0" tIns="0" rIns="0" bIns="0" rtlCol="0" anchor="t">
            <a:spAutoFit/>
          </a:bodyPr>
          <a:lstStyle/>
          <a:p>
            <a:pPr marL="0" lvl="0" indent="0" algn="ctr">
              <a:lnSpc>
                <a:spcPts val="8399"/>
              </a:lnSpc>
              <a:spcBef>
                <a:spcPct val="0"/>
              </a:spcBef>
            </a:pPr>
            <a:r>
              <a:rPr lang="en-US" sz="6999" u="none" strike="noStrike" spc="-139" dirty="0">
                <a:solidFill>
                  <a:srgbClr val="3B82F6"/>
                </a:solidFill>
                <a:latin typeface="Tenor Sans"/>
                <a:ea typeface="Tenor Sans"/>
                <a:cs typeface="Tenor Sans"/>
                <a:sym typeface="Tenor Sans"/>
              </a:rPr>
              <a:t>Les Réseaux</a:t>
            </a:r>
          </a:p>
        </p:txBody>
      </p:sp>
      <p:grpSp>
        <p:nvGrpSpPr>
          <p:cNvPr id="4" name="Group 4"/>
          <p:cNvGrpSpPr/>
          <p:nvPr/>
        </p:nvGrpSpPr>
        <p:grpSpPr>
          <a:xfrm>
            <a:off x="666750" y="5143500"/>
            <a:ext cx="5448300" cy="3783002"/>
            <a:chOff x="0" y="0"/>
            <a:chExt cx="7264400" cy="5044003"/>
          </a:xfrm>
        </p:grpSpPr>
        <p:sp>
          <p:nvSpPr>
            <p:cNvPr id="5" name="TextBox 5"/>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u="none" strike="noStrike">
                  <a:solidFill>
                    <a:srgbClr val="9CA3AF"/>
                  </a:solidFill>
                  <a:latin typeface="Clear Sans Medium"/>
                  <a:ea typeface="Clear Sans Medium"/>
                  <a:cs typeface="Clear Sans Medium"/>
                  <a:sym typeface="Clear Sans Medium"/>
                </a:rPr>
                <a:t>TYPES DE RÉSEAUX</a:t>
              </a:r>
            </a:p>
          </p:txBody>
        </p:sp>
        <p:sp>
          <p:nvSpPr>
            <p:cNvPr id="6" name="TextBox 6"/>
            <p:cNvSpPr txBox="1"/>
            <p:nvPr/>
          </p:nvSpPr>
          <p:spPr>
            <a:xfrm>
              <a:off x="0" y="1146193"/>
              <a:ext cx="7264400" cy="3897809"/>
            </a:xfrm>
            <a:prstGeom prst="rect">
              <a:avLst/>
            </a:prstGeom>
          </p:spPr>
          <p:txBody>
            <a:bodyPr lIns="0" tIns="0" rIns="0" bIns="0" rtlCol="0" anchor="t">
              <a:spAutoFit/>
            </a:bodyPr>
            <a:lstStyle/>
            <a:p>
              <a:pPr marL="0" lvl="0" indent="0" algn="ctr">
                <a:lnSpc>
                  <a:spcPts val="2939"/>
                </a:lnSpc>
                <a:spcBef>
                  <a:spcPct val="0"/>
                </a:spcBef>
              </a:pPr>
              <a:r>
                <a:rPr lang="en-US" sz="2099" u="none" strike="noStrike">
                  <a:solidFill>
                    <a:srgbClr val="F9FAFB"/>
                  </a:solidFill>
                  <a:latin typeface="Clear Sans"/>
                  <a:ea typeface="Clear Sans"/>
                  <a:cs typeface="Clear Sans"/>
                  <a:sym typeface="Clear Sans"/>
                </a:rPr>
                <a:t>LAN (Local Area Network) : réseau local limité à un bâtiment, débit élevé, faible coût. WAN (Wide Area Network) : réseau étendu reliant des sites distants via fibre ou liaisons spécialisées. MAN (Metropolitan Area Network) : réseau couvrant une ville. WLAN (Wireless LAN) : réseau local sans fil utilisant le Wi-Fi (norme IEEE 802.11).</a:t>
              </a:r>
            </a:p>
          </p:txBody>
        </p:sp>
      </p:grpSp>
      <p:grpSp>
        <p:nvGrpSpPr>
          <p:cNvPr id="7" name="Group 7"/>
          <p:cNvGrpSpPr/>
          <p:nvPr/>
        </p:nvGrpSpPr>
        <p:grpSpPr>
          <a:xfrm>
            <a:off x="6419850" y="5143500"/>
            <a:ext cx="5448300" cy="4150624"/>
            <a:chOff x="0" y="0"/>
            <a:chExt cx="7264400" cy="5534166"/>
          </a:xfrm>
        </p:grpSpPr>
        <p:sp>
          <p:nvSpPr>
            <p:cNvPr id="8" name="TextBox 8"/>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u="none" strike="noStrike">
                  <a:solidFill>
                    <a:srgbClr val="9CA3AF"/>
                  </a:solidFill>
                  <a:latin typeface="Clear Sans Medium"/>
                  <a:ea typeface="Clear Sans Medium"/>
                  <a:cs typeface="Clear Sans Medium"/>
                  <a:sym typeface="Clear Sans Medium"/>
                </a:rPr>
                <a:t>COMPOSANTS DES RÉSEAUX</a:t>
              </a:r>
            </a:p>
          </p:txBody>
        </p:sp>
        <p:sp>
          <p:nvSpPr>
            <p:cNvPr id="9" name="TextBox 9"/>
            <p:cNvSpPr txBox="1"/>
            <p:nvPr/>
          </p:nvSpPr>
          <p:spPr>
            <a:xfrm>
              <a:off x="0" y="1146193"/>
              <a:ext cx="7264400" cy="4387973"/>
            </a:xfrm>
            <a:prstGeom prst="rect">
              <a:avLst/>
            </a:prstGeom>
          </p:spPr>
          <p:txBody>
            <a:bodyPr lIns="0" tIns="0" rIns="0" bIns="0" rtlCol="0" anchor="t">
              <a:spAutoFit/>
            </a:bodyPr>
            <a:lstStyle/>
            <a:p>
              <a:pPr marL="0" lvl="0" indent="0" algn="ctr">
                <a:lnSpc>
                  <a:spcPts val="2939"/>
                </a:lnSpc>
                <a:spcBef>
                  <a:spcPct val="0"/>
                </a:spcBef>
              </a:pPr>
              <a:r>
                <a:rPr lang="en-US" sz="2099" u="none" strike="noStrike">
                  <a:solidFill>
                    <a:srgbClr val="F9FAFB"/>
                  </a:solidFill>
                  <a:latin typeface="Clear Sans"/>
                  <a:ea typeface="Clear Sans"/>
                  <a:cs typeface="Clear Sans"/>
                  <a:sym typeface="Clear Sans"/>
                </a:rPr>
                <a:t>Routeur : interconnecte plusieurs réseaux et assure le routage des paquets (ex. Cisco 2901). Switch : commutateur qui relie les équipements d'un même réseau local. Point d'accès (AP) : permet la connexion Wi-Fi des appareils mobiles. Serveur DHCP : attribue automatiquement les adresses IP. Serveur IoT : gère les objets connectés (capteurs, actionneurs).</a:t>
              </a:r>
            </a:p>
          </p:txBody>
        </p:sp>
      </p:grpSp>
      <p:grpSp>
        <p:nvGrpSpPr>
          <p:cNvPr id="10" name="Group 10"/>
          <p:cNvGrpSpPr/>
          <p:nvPr/>
        </p:nvGrpSpPr>
        <p:grpSpPr>
          <a:xfrm>
            <a:off x="12172950" y="5143500"/>
            <a:ext cx="5448300" cy="3783002"/>
            <a:chOff x="0" y="0"/>
            <a:chExt cx="7264400" cy="5044003"/>
          </a:xfrm>
        </p:grpSpPr>
        <p:sp>
          <p:nvSpPr>
            <p:cNvPr id="11" name="TextBox 11"/>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u="none" strike="noStrike">
                  <a:solidFill>
                    <a:srgbClr val="9CA3AF"/>
                  </a:solidFill>
                  <a:latin typeface="Clear Sans Medium"/>
                  <a:ea typeface="Clear Sans Medium"/>
                  <a:cs typeface="Clear Sans Medium"/>
                  <a:sym typeface="Clear Sans Medium"/>
                </a:rPr>
                <a:t>PROTOCOLES DE COMMUNICATION</a:t>
              </a:r>
            </a:p>
          </p:txBody>
        </p:sp>
        <p:sp>
          <p:nvSpPr>
            <p:cNvPr id="12" name="TextBox 12"/>
            <p:cNvSpPr txBox="1"/>
            <p:nvPr/>
          </p:nvSpPr>
          <p:spPr>
            <a:xfrm>
              <a:off x="0" y="1146193"/>
              <a:ext cx="7264400" cy="3897809"/>
            </a:xfrm>
            <a:prstGeom prst="rect">
              <a:avLst/>
            </a:prstGeom>
          </p:spPr>
          <p:txBody>
            <a:bodyPr lIns="0" tIns="0" rIns="0" bIns="0" rtlCol="0" anchor="t">
              <a:spAutoFit/>
            </a:bodyPr>
            <a:lstStyle/>
            <a:p>
              <a:pPr marL="0" lvl="0" indent="0" algn="ctr">
                <a:lnSpc>
                  <a:spcPts val="2939"/>
                </a:lnSpc>
                <a:spcBef>
                  <a:spcPct val="0"/>
                </a:spcBef>
              </a:pPr>
              <a:r>
                <a:rPr lang="en-US" sz="2099" u="none" strike="noStrike">
                  <a:solidFill>
                    <a:srgbClr val="F9FAFB"/>
                  </a:solidFill>
                  <a:latin typeface="Clear Sans"/>
                  <a:ea typeface="Clear Sans"/>
                  <a:cs typeface="Clear Sans"/>
                  <a:sym typeface="Clear Sans"/>
                </a:rPr>
                <a:t>TCP/IP : protocole fondamental d'Internet, assure la segmentation et l'acheminement des données. DHCP : attribue dynamiquement une adresse IP, un masque, une passerelle et un DNS à chaque hôte. Le routage statique ou dynamique (RIP, OSPF) permet aux routeurs de déterminer le meilleur chemin entre les réseaux.</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2" name="Group 2"/>
          <p:cNvGrpSpPr/>
          <p:nvPr/>
        </p:nvGrpSpPr>
        <p:grpSpPr>
          <a:xfrm>
            <a:off x="666750" y="1562100"/>
            <a:ext cx="8324850" cy="5661660"/>
            <a:chOff x="0" y="0"/>
            <a:chExt cx="11099800" cy="7548880"/>
          </a:xfrm>
        </p:grpSpPr>
        <p:sp>
          <p:nvSpPr>
            <p:cNvPr id="3" name="TextBox 3"/>
            <p:cNvSpPr txBox="1"/>
            <p:nvPr/>
          </p:nvSpPr>
          <p:spPr>
            <a:xfrm>
              <a:off x="0" y="0"/>
              <a:ext cx="11099800" cy="2819400"/>
            </a:xfrm>
            <a:prstGeom prst="rect">
              <a:avLst/>
            </a:prstGeom>
          </p:spPr>
          <p:txBody>
            <a:bodyPr lIns="0" tIns="0" rIns="0" bIns="0" rtlCol="0" anchor="t">
              <a:spAutoFit/>
            </a:bodyPr>
            <a:lstStyle/>
            <a:p>
              <a:pPr marL="0" lvl="0" indent="0" algn="l">
                <a:lnSpc>
                  <a:spcPts val="8399"/>
                </a:lnSpc>
                <a:spcBef>
                  <a:spcPct val="0"/>
                </a:spcBef>
              </a:pPr>
              <a:r>
                <a:rPr lang="en-US" sz="6999" u="none" strike="noStrike" spc="-139">
                  <a:solidFill>
                    <a:srgbClr val="3B82F6"/>
                  </a:solidFill>
                  <a:latin typeface="Tenor Sans"/>
                  <a:ea typeface="Tenor Sans"/>
                  <a:cs typeface="Tenor Sans"/>
                  <a:sym typeface="Tenor Sans"/>
                </a:rPr>
                <a:t>Conclusion Générale</a:t>
              </a:r>
            </a:p>
          </p:txBody>
        </p:sp>
        <p:sp>
          <p:nvSpPr>
            <p:cNvPr id="4" name="TextBox 4"/>
            <p:cNvSpPr txBox="1"/>
            <p:nvPr/>
          </p:nvSpPr>
          <p:spPr>
            <a:xfrm>
              <a:off x="0" y="3581364"/>
              <a:ext cx="11099800" cy="482600"/>
            </a:xfrm>
            <a:prstGeom prst="rect">
              <a:avLst/>
            </a:prstGeom>
          </p:spPr>
          <p:txBody>
            <a:bodyPr lIns="0" tIns="0" rIns="0" bIns="0" rtlCol="0" anchor="t">
              <a:spAutoFit/>
            </a:bodyPr>
            <a:lstStyle/>
            <a:p>
              <a:pPr marL="0" lvl="0" indent="0" algn="l">
                <a:lnSpc>
                  <a:spcPts val="2879"/>
                </a:lnSpc>
                <a:spcBef>
                  <a:spcPct val="0"/>
                </a:spcBef>
              </a:pPr>
              <a:r>
                <a:rPr lang="en-US" sz="2400" b="1" u="none" strike="noStrike">
                  <a:solidFill>
                    <a:srgbClr val="9CA3AF"/>
                  </a:solidFill>
                  <a:latin typeface="Clear Sans Bold"/>
                  <a:ea typeface="Clear Sans Bold"/>
                  <a:cs typeface="Clear Sans Bold"/>
                  <a:sym typeface="Clear Sans Bold"/>
                </a:rPr>
                <a:t>BILAN ET PERSPECTIVES</a:t>
              </a:r>
            </a:p>
          </p:txBody>
        </p:sp>
        <p:sp>
          <p:nvSpPr>
            <p:cNvPr id="5" name="TextBox 5"/>
            <p:cNvSpPr txBox="1"/>
            <p:nvPr/>
          </p:nvSpPr>
          <p:spPr>
            <a:xfrm>
              <a:off x="0" y="4600575"/>
              <a:ext cx="11099800" cy="2948305"/>
            </a:xfrm>
            <a:prstGeom prst="rect">
              <a:avLst/>
            </a:prstGeom>
          </p:spPr>
          <p:txBody>
            <a:bodyPr lIns="0" tIns="0" rIns="0" bIns="0" rtlCol="0" anchor="t">
              <a:spAutoFit/>
            </a:bodyPr>
            <a:lstStyle/>
            <a:p>
              <a:pPr marL="453390" lvl="1" indent="-226695" algn="l">
                <a:lnSpc>
                  <a:spcPts val="2940"/>
                </a:lnSpc>
                <a:spcBef>
                  <a:spcPct val="0"/>
                </a:spcBef>
                <a:buFont typeface="Arial"/>
                <a:buChar char="•"/>
              </a:pPr>
              <a:r>
                <a:rPr lang="en-US" sz="2100" u="none" strike="noStrike">
                  <a:solidFill>
                    <a:srgbClr val="F9FAFB"/>
                  </a:solidFill>
                  <a:latin typeface="Clear Sans"/>
                  <a:ea typeface="Clear Sans"/>
                  <a:cs typeface="Clear Sans"/>
                  <a:sym typeface="Clear Sans"/>
                </a:rPr>
                <a:t>Ce projet a permis de concevoir une solution IoT hospitalière complète et fonctionnelle. Nous avons maîtrisé la configuration réseau (DHCP, OSPF), l'automatisation des objets connectés et la surveillance à distance via Packet Tracer. En perspective : sécurisation par VLANs, authentification des accès et intégration d'un tableau de bord de monitoring en temps réel.</a:t>
              </a:r>
            </a:p>
          </p:txBody>
        </p:sp>
      </p:grpSp>
      <p:sp>
        <p:nvSpPr>
          <p:cNvPr id="6" name="Freeform 6"/>
          <p:cNvSpPr/>
          <p:nvPr/>
        </p:nvSpPr>
        <p:spPr>
          <a:xfrm>
            <a:off x="15150568"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387</Words>
  <Application>Microsoft Office PowerPoint</Application>
  <PresentationFormat>Custom</PresentationFormat>
  <Paragraphs>17</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Tenor Sans</vt:lpstr>
      <vt:lpstr>Clear Sans</vt:lpstr>
      <vt:lpstr>Clear Sans Bold</vt:lpstr>
      <vt:lpstr>Clear Sans Medium</vt:lpstr>
      <vt:lpstr>Calibri</vt:lpstr>
      <vt:lpstr>Sitka Heading</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 Mini Projet: Fondements Des Réseaux</dc:title>
  <dc:description>Présentation - Mini Projet: Fondements Des Réseaux</dc:description>
  <cp:lastModifiedBy>moufaz khadhraoui</cp:lastModifiedBy>
  <cp:revision>2</cp:revision>
  <dcterms:created xsi:type="dcterms:W3CDTF">2006-08-16T00:00:00Z</dcterms:created>
  <dcterms:modified xsi:type="dcterms:W3CDTF">2026-04-27T18:33:56Z</dcterms:modified>
  <dc:identifier>DAHH_DLCe20</dc:identifier>
</cp:coreProperties>
</file>