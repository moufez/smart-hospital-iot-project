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Tenor Sans" charset="1" panose="02000000000000000000"/>
      <p:regular r:id="rId13"/>
    </p:embeddedFont>
    <p:embeddedFont>
      <p:font typeface="Clear Sans" charset="1" panose="020B0503030202020304"/>
      <p:regular r:id="rId14"/>
    </p:embeddedFont>
    <p:embeddedFont>
      <p:font typeface="Clear Sans Medium" charset="1" panose="020B0603030202020304"/>
      <p:regular r:id="rId15"/>
    </p:embeddedFont>
    <p:embeddedFont>
      <p:font typeface="Clear Sans Bold" charset="1" panose="020B08030302020203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490242" y="1627299"/>
            <a:ext cx="5490557" cy="8158680"/>
            <a:chOff x="0" y="0"/>
            <a:chExt cx="7320742" cy="10878240"/>
          </a:xfrm>
        </p:grpSpPr>
        <p:sp>
          <p:nvSpPr>
            <p:cNvPr name="TextBox 3" id="3"/>
            <p:cNvSpPr txBox="true"/>
            <p:nvPr/>
          </p:nvSpPr>
          <p:spPr>
            <a:xfrm rot="0">
              <a:off x="0" y="38100"/>
              <a:ext cx="7320742" cy="3828204"/>
            </a:xfrm>
            <a:prstGeom prst="rect">
              <a:avLst/>
            </a:prstGeom>
          </p:spPr>
          <p:txBody>
            <a:bodyPr anchor="t" rtlCol="false" tIns="0" lIns="0" bIns="0" rIns="0">
              <a:spAutoFit/>
            </a:bodyPr>
            <a:lstStyle/>
            <a:p>
              <a:pPr algn="l" marL="0" indent="0" lvl="0">
                <a:lnSpc>
                  <a:spcPts val="2811"/>
                </a:lnSpc>
                <a:spcBef>
                  <a:spcPct val="0"/>
                </a:spcBef>
              </a:pPr>
              <a:r>
                <a:rPr lang="en-US" sz="2811" spc="-56" strike="noStrike" u="none">
                  <a:solidFill>
                    <a:srgbClr val="F9FAFB"/>
                  </a:solidFill>
                  <a:latin typeface="Tenor Sans"/>
                  <a:ea typeface="Tenor Sans"/>
                  <a:cs typeface="Tenor Sans"/>
                  <a:sym typeface="Tenor Sans"/>
                </a:rPr>
                <a:t>Ministère de l'Enseignement Supérieur et de la Recherche Scientifique</a:t>
              </a:r>
            </a:p>
            <a:p>
              <a:pPr algn="l" marL="0" indent="0" lvl="0">
                <a:lnSpc>
                  <a:spcPts val="2811"/>
                </a:lnSpc>
                <a:spcBef>
                  <a:spcPct val="0"/>
                </a:spcBef>
              </a:pPr>
              <a:r>
                <a:rPr lang="en-US" sz="2811" spc="-56" strike="noStrike" u="none">
                  <a:solidFill>
                    <a:srgbClr val="F9FAFB"/>
                  </a:solidFill>
                  <a:latin typeface="Tenor Sans"/>
                  <a:ea typeface="Tenor Sans"/>
                  <a:cs typeface="Tenor Sans"/>
                  <a:sym typeface="Tenor Sans"/>
                </a:rPr>
                <a:t>Faculté des Sciences de Monastir</a:t>
              </a:r>
            </a:p>
            <a:p>
              <a:pPr algn="l" marL="0" indent="0" lvl="0">
                <a:lnSpc>
                  <a:spcPts val="2811"/>
                </a:lnSpc>
                <a:spcBef>
                  <a:spcPct val="0"/>
                </a:spcBef>
              </a:pPr>
            </a:p>
            <a:p>
              <a:pPr algn="l" marL="0" indent="0" lvl="0">
                <a:lnSpc>
                  <a:spcPts val="2811"/>
                </a:lnSpc>
                <a:spcBef>
                  <a:spcPct val="0"/>
                </a:spcBef>
              </a:pPr>
              <a:r>
                <a:rPr lang="en-US" sz="2811" spc="-56" strike="noStrike" u="none">
                  <a:solidFill>
                    <a:srgbClr val="F9FAFB"/>
                  </a:solidFill>
                  <a:latin typeface="Tenor Sans"/>
                  <a:ea typeface="Tenor Sans"/>
                  <a:cs typeface="Tenor Sans"/>
                  <a:sym typeface="Tenor Sans"/>
                </a:rPr>
                <a:t>Mini Projet</a:t>
              </a:r>
            </a:p>
            <a:p>
              <a:pPr algn="l" marL="0" indent="0" lvl="0">
                <a:lnSpc>
                  <a:spcPts val="2811"/>
                </a:lnSpc>
                <a:spcBef>
                  <a:spcPct val="0"/>
                </a:spcBef>
              </a:pPr>
              <a:r>
                <a:rPr lang="en-US" sz="2811" spc="-56" strike="noStrike" u="none">
                  <a:solidFill>
                    <a:srgbClr val="F9FAFB"/>
                  </a:solidFill>
                  <a:latin typeface="Tenor Sans"/>
                  <a:ea typeface="Tenor Sans"/>
                  <a:cs typeface="Tenor Sans"/>
                  <a:sym typeface="Tenor Sans"/>
                </a:rPr>
                <a:t>Fondements Des Réseaux</a:t>
              </a:r>
            </a:p>
          </p:txBody>
        </p:sp>
        <p:sp>
          <p:nvSpPr>
            <p:cNvPr name="TextBox 4" id="4"/>
            <p:cNvSpPr txBox="true"/>
            <p:nvPr/>
          </p:nvSpPr>
          <p:spPr>
            <a:xfrm rot="0">
              <a:off x="0" y="10060334"/>
              <a:ext cx="7320742" cy="817905"/>
            </a:xfrm>
            <a:prstGeom prst="rect">
              <a:avLst/>
            </a:prstGeom>
          </p:spPr>
          <p:txBody>
            <a:bodyPr anchor="t" rtlCol="false" tIns="0" lIns="0" bIns="0" rIns="0">
              <a:spAutoFit/>
            </a:bodyPr>
            <a:lstStyle/>
            <a:p>
              <a:pPr algn="l" marL="0" indent="0" lvl="0">
                <a:lnSpc>
                  <a:spcPts val="2519"/>
                </a:lnSpc>
                <a:spcBef>
                  <a:spcPct val="0"/>
                </a:spcBef>
              </a:pPr>
              <a:r>
                <a:rPr lang="en-US" sz="1799" strike="noStrike" u="none">
                  <a:solidFill>
                    <a:srgbClr val="F9FAFB"/>
                  </a:solidFill>
                  <a:latin typeface="Clear Sans"/>
                  <a:ea typeface="Clear Sans"/>
                  <a:cs typeface="Clear Sans"/>
                  <a:sym typeface="Clear Sans"/>
                </a:rPr>
                <a:t>NOM &amp; PRÉNOM : HAROUN MAAREF &amp; MOUFEZ KHADROUI |  </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sp>
        <p:nvSpPr>
          <p:cNvPr name="TextBox 2" id="2"/>
          <p:cNvSpPr txBox="true"/>
          <p:nvPr/>
        </p:nvSpPr>
        <p:spPr>
          <a:xfrm rot="0">
            <a:off x="666750" y="1562086"/>
            <a:ext cx="8324850" cy="2114550"/>
          </a:xfrm>
          <a:prstGeom prst="rect">
            <a:avLst/>
          </a:prstGeom>
        </p:spPr>
        <p:txBody>
          <a:bodyPr anchor="t" rtlCol="false" tIns="0" lIns="0" bIns="0" rIns="0">
            <a:spAutoFit/>
          </a:bodyPr>
          <a:lstStyle/>
          <a:p>
            <a:pPr algn="l" marL="0" indent="0" lvl="0">
              <a:lnSpc>
                <a:spcPts val="8399"/>
              </a:lnSpc>
              <a:spcBef>
                <a:spcPct val="0"/>
              </a:spcBef>
            </a:pPr>
            <a:r>
              <a:rPr lang="en-US" sz="6999" spc="-139" strike="noStrike" u="none">
                <a:solidFill>
                  <a:srgbClr val="3B82F6"/>
                </a:solidFill>
                <a:latin typeface="Tenor Sans"/>
                <a:ea typeface="Tenor Sans"/>
                <a:cs typeface="Tenor Sans"/>
                <a:sym typeface="Tenor Sans"/>
              </a:rPr>
              <a:t>Introduction Générale</a:t>
            </a:r>
          </a:p>
        </p:txBody>
      </p:sp>
      <p:grpSp>
        <p:nvGrpSpPr>
          <p:cNvPr name="Group 3" id="3"/>
          <p:cNvGrpSpPr/>
          <p:nvPr/>
        </p:nvGrpSpPr>
        <p:grpSpPr>
          <a:xfrm rot="0">
            <a:off x="11346717" y="695282"/>
            <a:ext cx="5448300" cy="7738427"/>
            <a:chOff x="0" y="0"/>
            <a:chExt cx="7264400" cy="10317902"/>
          </a:xfrm>
        </p:grpSpPr>
        <p:sp>
          <p:nvSpPr>
            <p:cNvPr name="TextBox 4" id="4"/>
            <p:cNvSpPr txBox="true"/>
            <p:nvPr/>
          </p:nvSpPr>
          <p:spPr>
            <a:xfrm rot="0">
              <a:off x="0" y="-47625"/>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strike="noStrike" u="none">
                  <a:solidFill>
                    <a:srgbClr val="9CA3AF"/>
                  </a:solidFill>
                  <a:latin typeface="Clear Sans Medium"/>
                  <a:ea typeface="Clear Sans Medium"/>
                  <a:cs typeface="Clear Sans Medium"/>
                  <a:sym typeface="Clear Sans Medium"/>
                </a:rPr>
                <a:t>SCÉNARIO : HÔPITAL INTELLIGENT</a:t>
              </a:r>
            </a:p>
          </p:txBody>
        </p:sp>
        <p:sp>
          <p:nvSpPr>
            <p:cNvPr name="TextBox 5" id="5"/>
            <p:cNvSpPr txBox="true"/>
            <p:nvPr/>
          </p:nvSpPr>
          <p:spPr>
            <a:xfrm rot="0">
              <a:off x="0" y="878058"/>
              <a:ext cx="7264400" cy="4878136"/>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9FAFB"/>
                  </a:solidFill>
                  <a:latin typeface="Clear Sans"/>
                  <a:ea typeface="Clear Sans"/>
                  <a:cs typeface="Clear Sans"/>
                  <a:sym typeface="Clear Sans"/>
                </a:rPr>
                <a:t>Dans un hôpital moderne, le responsable souhaite réduire les risques de vol, de contamination et d'intrusion en limitant la présence de gardes malades. Il demande une solution IoT permettant aux patients de signaler un danger via smartphone, de contrôler les fenêtres selon la température, et aux responsables de surveiller les mouvements depuis une salle de contrôle avec déclenchement automatique d'alarme.</a:t>
              </a:r>
            </a:p>
          </p:txBody>
        </p:sp>
        <p:sp>
          <p:nvSpPr>
            <p:cNvPr name="TextBox 6" id="6"/>
            <p:cNvSpPr txBox="true"/>
            <p:nvPr/>
          </p:nvSpPr>
          <p:spPr>
            <a:xfrm rot="0">
              <a:off x="0" y="6964899"/>
              <a:ext cx="7264400" cy="530032"/>
            </a:xfrm>
            <a:prstGeom prst="rect">
              <a:avLst/>
            </a:prstGeom>
          </p:spPr>
          <p:txBody>
            <a:bodyPr anchor="t" rtlCol="false" tIns="0" lIns="0" bIns="0" rIns="0">
              <a:spAutoFit/>
            </a:bodyPr>
            <a:lstStyle/>
            <a:p>
              <a:pPr algn="l" marL="0" indent="0" lvl="0">
                <a:lnSpc>
                  <a:spcPts val="3360"/>
                </a:lnSpc>
                <a:spcBef>
                  <a:spcPct val="0"/>
                </a:spcBef>
              </a:pPr>
              <a:r>
                <a:rPr lang="en-US" b="true" sz="2400" strike="noStrike" u="none">
                  <a:solidFill>
                    <a:srgbClr val="9CA3AF"/>
                  </a:solidFill>
                  <a:latin typeface="Clear Sans Medium"/>
                  <a:ea typeface="Clear Sans Medium"/>
                  <a:cs typeface="Clear Sans Medium"/>
                  <a:sym typeface="Clear Sans Medium"/>
                </a:rPr>
                <a:t>OBJECTIFS DU PROJET</a:t>
              </a:r>
            </a:p>
          </p:txBody>
        </p:sp>
        <p:sp>
          <p:nvSpPr>
            <p:cNvPr name="TextBox 7" id="7"/>
            <p:cNvSpPr txBox="true"/>
            <p:nvPr/>
          </p:nvSpPr>
          <p:spPr>
            <a:xfrm rot="0">
              <a:off x="0" y="7890582"/>
              <a:ext cx="7264400" cy="2427320"/>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9FAFB"/>
                  </a:solidFill>
                  <a:latin typeface="Clear Sans"/>
                  <a:ea typeface="Clear Sans"/>
                  <a:cs typeface="Clear Sans"/>
                  <a:sym typeface="Clear Sans"/>
                </a:rPr>
                <a:t>Déployer des capteurs et actionneurs IoT. Configurer le réseau (DHCP, OSPF, points d'accès). Automatiser les objets selon des conditions. Tester la connectivité et les alertes via Cisco Packet Tracer.</a:t>
              </a:r>
            </a:p>
          </p:txBody>
        </p:sp>
      </p:grpSp>
      <p:sp>
        <p:nvSpPr>
          <p:cNvPr name="Freeform 8" id="8"/>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05025" y="1562100"/>
            <a:ext cx="14077950" cy="1055948"/>
          </a:xfrm>
          <a:prstGeom prst="rect">
            <a:avLst/>
          </a:prstGeom>
        </p:spPr>
        <p:txBody>
          <a:bodyPr anchor="t" rtlCol="false" tIns="0" lIns="0" bIns="0" rIns="0">
            <a:spAutoFit/>
          </a:bodyPr>
          <a:lstStyle/>
          <a:p>
            <a:pPr algn="ctr" marL="0" indent="0" lvl="0">
              <a:lnSpc>
                <a:spcPts val="8399"/>
              </a:lnSpc>
              <a:spcBef>
                <a:spcPct val="0"/>
              </a:spcBef>
            </a:pPr>
            <a:r>
              <a:rPr lang="en-US" sz="6999" spc="-139" strike="noStrike" u="none">
                <a:solidFill>
                  <a:srgbClr val="3B82F6"/>
                </a:solidFill>
                <a:latin typeface="Tenor Sans"/>
                <a:ea typeface="Tenor Sans"/>
                <a:cs typeface="Tenor Sans"/>
                <a:sym typeface="Tenor Sans"/>
              </a:rPr>
              <a:t>Chapitre 1 : Les Réseaux</a:t>
            </a:r>
          </a:p>
        </p:txBody>
      </p:sp>
      <p:grpSp>
        <p:nvGrpSpPr>
          <p:cNvPr name="Group 4" id="4"/>
          <p:cNvGrpSpPr/>
          <p:nvPr/>
        </p:nvGrpSpPr>
        <p:grpSpPr>
          <a:xfrm rot="0">
            <a:off x="666750" y="5143500"/>
            <a:ext cx="5448300" cy="3783002"/>
            <a:chOff x="0" y="0"/>
            <a:chExt cx="7264400" cy="5044003"/>
          </a:xfrm>
        </p:grpSpPr>
        <p:sp>
          <p:nvSpPr>
            <p:cNvPr name="TextBox 5" id="5"/>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9CA3AF"/>
                  </a:solidFill>
                  <a:latin typeface="Clear Sans Medium"/>
                  <a:ea typeface="Clear Sans Medium"/>
                  <a:cs typeface="Clear Sans Medium"/>
                  <a:sym typeface="Clear Sans Medium"/>
                </a:rPr>
                <a:t>TYPES DE RÉSEAUX</a:t>
              </a:r>
            </a:p>
          </p:txBody>
        </p:sp>
        <p:sp>
          <p:nvSpPr>
            <p:cNvPr name="TextBox 6" id="6"/>
            <p:cNvSpPr txBox="true"/>
            <p:nvPr/>
          </p:nvSpPr>
          <p:spPr>
            <a:xfrm rot="0">
              <a:off x="0" y="1146193"/>
              <a:ext cx="7264400" cy="3897809"/>
            </a:xfrm>
            <a:prstGeom prst="rect">
              <a:avLst/>
            </a:prstGeom>
          </p:spPr>
          <p:txBody>
            <a:bodyPr anchor="t" rtlCol="false" tIns="0" lIns="0" bIns="0" rIns="0">
              <a:spAutoFit/>
            </a:bodyPr>
            <a:lstStyle/>
            <a:p>
              <a:pPr algn="ctr" marL="0" indent="0" lvl="0">
                <a:lnSpc>
                  <a:spcPts val="2939"/>
                </a:lnSpc>
                <a:spcBef>
                  <a:spcPct val="0"/>
                </a:spcBef>
              </a:pPr>
              <a:r>
                <a:rPr lang="en-US" sz="2099" strike="noStrike" u="none">
                  <a:solidFill>
                    <a:srgbClr val="F9FAFB"/>
                  </a:solidFill>
                  <a:latin typeface="Clear Sans"/>
                  <a:ea typeface="Clear Sans"/>
                  <a:cs typeface="Clear Sans"/>
                  <a:sym typeface="Clear Sans"/>
                </a:rPr>
                <a:t>LAN (Local Area Network) : réseau local limité à un bâtiment, débit élevé, faible coût. WAN (Wide Area Network) : réseau étendu reliant des sites distants via fibre ou liaisons spécialisées. MAN (Metropolitan Area Network) : réseau couvrant une ville. WLAN (Wireless LAN) : réseau local sans fil utilisant le Wi-Fi (norme IEEE 802.11).</a:t>
              </a:r>
            </a:p>
          </p:txBody>
        </p:sp>
      </p:grpSp>
      <p:grpSp>
        <p:nvGrpSpPr>
          <p:cNvPr name="Group 7" id="7"/>
          <p:cNvGrpSpPr/>
          <p:nvPr/>
        </p:nvGrpSpPr>
        <p:grpSpPr>
          <a:xfrm rot="0">
            <a:off x="6419850" y="5143500"/>
            <a:ext cx="5448300" cy="4150624"/>
            <a:chOff x="0" y="0"/>
            <a:chExt cx="7264400" cy="5534166"/>
          </a:xfrm>
        </p:grpSpPr>
        <p:sp>
          <p:nvSpPr>
            <p:cNvPr name="TextBox 8" id="8"/>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9CA3AF"/>
                  </a:solidFill>
                  <a:latin typeface="Clear Sans Medium"/>
                  <a:ea typeface="Clear Sans Medium"/>
                  <a:cs typeface="Clear Sans Medium"/>
                  <a:sym typeface="Clear Sans Medium"/>
                </a:rPr>
                <a:t>COMPOSANTS DES RÉSEAUX</a:t>
              </a:r>
            </a:p>
          </p:txBody>
        </p:sp>
        <p:sp>
          <p:nvSpPr>
            <p:cNvPr name="TextBox 9" id="9"/>
            <p:cNvSpPr txBox="true"/>
            <p:nvPr/>
          </p:nvSpPr>
          <p:spPr>
            <a:xfrm rot="0">
              <a:off x="0" y="1146193"/>
              <a:ext cx="7264400" cy="4387973"/>
            </a:xfrm>
            <a:prstGeom prst="rect">
              <a:avLst/>
            </a:prstGeom>
          </p:spPr>
          <p:txBody>
            <a:bodyPr anchor="t" rtlCol="false" tIns="0" lIns="0" bIns="0" rIns="0">
              <a:spAutoFit/>
            </a:bodyPr>
            <a:lstStyle/>
            <a:p>
              <a:pPr algn="ctr" marL="0" indent="0" lvl="0">
                <a:lnSpc>
                  <a:spcPts val="2939"/>
                </a:lnSpc>
                <a:spcBef>
                  <a:spcPct val="0"/>
                </a:spcBef>
              </a:pPr>
              <a:r>
                <a:rPr lang="en-US" sz="2099" strike="noStrike" u="none">
                  <a:solidFill>
                    <a:srgbClr val="F9FAFB"/>
                  </a:solidFill>
                  <a:latin typeface="Clear Sans"/>
                  <a:ea typeface="Clear Sans"/>
                  <a:cs typeface="Clear Sans"/>
                  <a:sym typeface="Clear Sans"/>
                </a:rPr>
                <a:t>Routeur : interconnecte plusieurs réseaux et assure le routage des paquets (ex. Cisco 2901). Switch : commutateur qui relie les équipements d'un même réseau local. Point d'accès (AP) : permet la connexion Wi-Fi des appareils mobiles. Serveur DHCP : attribue automatiquement les adresses IP. Serveur IoT : gère les objets connectés (capteurs, actionneurs).</a:t>
              </a:r>
            </a:p>
          </p:txBody>
        </p:sp>
      </p:grpSp>
      <p:grpSp>
        <p:nvGrpSpPr>
          <p:cNvPr name="Group 10" id="10"/>
          <p:cNvGrpSpPr/>
          <p:nvPr/>
        </p:nvGrpSpPr>
        <p:grpSpPr>
          <a:xfrm rot="0">
            <a:off x="12172950" y="5143500"/>
            <a:ext cx="5448300" cy="3783002"/>
            <a:chOff x="0" y="0"/>
            <a:chExt cx="7264400" cy="5044003"/>
          </a:xfrm>
        </p:grpSpPr>
        <p:sp>
          <p:nvSpPr>
            <p:cNvPr name="TextBox 11" id="11"/>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strike="noStrike" u="none">
                  <a:solidFill>
                    <a:srgbClr val="9CA3AF"/>
                  </a:solidFill>
                  <a:latin typeface="Clear Sans Medium"/>
                  <a:ea typeface="Clear Sans Medium"/>
                  <a:cs typeface="Clear Sans Medium"/>
                  <a:sym typeface="Clear Sans Medium"/>
                </a:rPr>
                <a:t>PROTOCOLES DE COMMUNICATION</a:t>
              </a:r>
            </a:p>
          </p:txBody>
        </p:sp>
        <p:sp>
          <p:nvSpPr>
            <p:cNvPr name="TextBox 12" id="12"/>
            <p:cNvSpPr txBox="true"/>
            <p:nvPr/>
          </p:nvSpPr>
          <p:spPr>
            <a:xfrm rot="0">
              <a:off x="0" y="1146193"/>
              <a:ext cx="7264400" cy="3897809"/>
            </a:xfrm>
            <a:prstGeom prst="rect">
              <a:avLst/>
            </a:prstGeom>
          </p:spPr>
          <p:txBody>
            <a:bodyPr anchor="t" rtlCol="false" tIns="0" lIns="0" bIns="0" rIns="0">
              <a:spAutoFit/>
            </a:bodyPr>
            <a:lstStyle/>
            <a:p>
              <a:pPr algn="ctr" marL="0" indent="0" lvl="0">
                <a:lnSpc>
                  <a:spcPts val="2939"/>
                </a:lnSpc>
                <a:spcBef>
                  <a:spcPct val="0"/>
                </a:spcBef>
              </a:pPr>
              <a:r>
                <a:rPr lang="en-US" sz="2099" strike="noStrike" u="none">
                  <a:solidFill>
                    <a:srgbClr val="F9FAFB"/>
                  </a:solidFill>
                  <a:latin typeface="Clear Sans"/>
                  <a:ea typeface="Clear Sans"/>
                  <a:cs typeface="Clear Sans"/>
                  <a:sym typeface="Clear Sans"/>
                </a:rPr>
                <a:t>TCP/IP : protocole fondamental d'Internet, assure la segmentation et l'acheminement des données. DHCP : attribue dynamiquement une adresse IP, un masque, une passerelle et un DNS à chaque hôte. Le routage statique ou dynamique (RIP, OSPF) permet aux routeurs de déterminer le meilleur chemin entre les réseaux.</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666750" y="1562100"/>
            <a:ext cx="9763125" cy="5205703"/>
            <a:chOff x="0" y="0"/>
            <a:chExt cx="13017500" cy="6940937"/>
          </a:xfrm>
        </p:grpSpPr>
        <p:sp>
          <p:nvSpPr>
            <p:cNvPr name="TextBox 5" id="5"/>
            <p:cNvSpPr txBox="true"/>
            <p:nvPr/>
          </p:nvSpPr>
          <p:spPr>
            <a:xfrm rot="0">
              <a:off x="0" y="3319799"/>
              <a:ext cx="13017500" cy="525145"/>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9CA3AF"/>
                  </a:solidFill>
                  <a:latin typeface="Clear Sans Bold"/>
                  <a:ea typeface="Clear Sans Bold"/>
                  <a:cs typeface="Clear Sans Bold"/>
                  <a:sym typeface="Clear Sans Bold"/>
                </a:rPr>
                <a:t>SOLUTION IOT PROPOSÉE</a:t>
              </a:r>
            </a:p>
          </p:txBody>
        </p:sp>
        <p:sp>
          <p:nvSpPr>
            <p:cNvPr name="TextBox 6" id="6"/>
            <p:cNvSpPr txBox="true"/>
            <p:nvPr/>
          </p:nvSpPr>
          <p:spPr>
            <a:xfrm rot="0">
              <a:off x="0" y="4513617"/>
              <a:ext cx="13017500" cy="2427320"/>
            </a:xfrm>
            <a:prstGeom prst="rect">
              <a:avLst/>
            </a:prstGeom>
          </p:spPr>
          <p:txBody>
            <a:bodyPr anchor="t" rtlCol="false" tIns="0" lIns="0" bIns="0" rIns="0">
              <a:spAutoFit/>
            </a:bodyPr>
            <a:lstStyle/>
            <a:p>
              <a:pPr algn="l" marL="0" indent="0" lvl="0">
                <a:lnSpc>
                  <a:spcPts val="2939"/>
                </a:lnSpc>
                <a:spcBef>
                  <a:spcPct val="0"/>
                </a:spcBef>
              </a:pPr>
              <a:r>
                <a:rPr lang="en-US" sz="2099" strike="noStrike" u="none">
                  <a:solidFill>
                    <a:srgbClr val="F9FAFB"/>
                  </a:solidFill>
                  <a:latin typeface="Clear Sans"/>
                  <a:ea typeface="Clear Sans"/>
                  <a:cs typeface="Clear Sans"/>
                  <a:sym typeface="Clear Sans"/>
                </a:rPr>
                <a:t>Site Salle de Contrôle (192.168.80.0/24) : Smartphone du responsable, sirènes d'alarme, AP01, Switch0, Serveur DHCP. Site Chambre de Malade (192.168.60.0/24) : Smartphone patient, webcam, fenêtre automatique, détecteur de mouvement, AP02, Serveur IoT. Liaison WAN (10.10.10.0/24) : Routeurs Cisco 2901 R1 ↔ R2, routage OSPF.</a:t>
              </a:r>
            </a:p>
          </p:txBody>
        </p:sp>
        <p:sp>
          <p:nvSpPr>
            <p:cNvPr name="TextBox 7" id="7"/>
            <p:cNvSpPr txBox="true"/>
            <p:nvPr/>
          </p:nvSpPr>
          <p:spPr>
            <a:xfrm rot="0">
              <a:off x="0" y="0"/>
              <a:ext cx="13017500" cy="2815860"/>
            </a:xfrm>
            <a:prstGeom prst="rect">
              <a:avLst/>
            </a:prstGeom>
          </p:spPr>
          <p:txBody>
            <a:bodyPr anchor="t" rtlCol="false" tIns="0" lIns="0" bIns="0" rIns="0">
              <a:spAutoFit/>
            </a:bodyPr>
            <a:lstStyle/>
            <a:p>
              <a:pPr algn="l" marL="0" indent="0" lvl="0">
                <a:lnSpc>
                  <a:spcPts val="8399"/>
                </a:lnSpc>
                <a:spcBef>
                  <a:spcPct val="0"/>
                </a:spcBef>
              </a:pPr>
              <a:r>
                <a:rPr lang="en-US" sz="6999" spc="-139" strike="noStrike" u="none">
                  <a:solidFill>
                    <a:srgbClr val="F9FAFB"/>
                  </a:solidFill>
                  <a:latin typeface="Tenor Sans"/>
                  <a:ea typeface="Tenor Sans"/>
                  <a:cs typeface="Tenor Sans"/>
                  <a:sym typeface="Tenor Sans"/>
                </a:rPr>
                <a:t>Chapitre 2 : Architecture Proposée</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2105025" y="1562100"/>
            <a:ext cx="6886575" cy="2926080"/>
            <a:chOff x="0" y="0"/>
            <a:chExt cx="9182100" cy="3901440"/>
          </a:xfrm>
        </p:grpSpPr>
        <p:sp>
          <p:nvSpPr>
            <p:cNvPr name="TextBox 3" id="3"/>
            <p:cNvSpPr txBox="true"/>
            <p:nvPr/>
          </p:nvSpPr>
          <p:spPr>
            <a:xfrm rot="0">
              <a:off x="0" y="0"/>
              <a:ext cx="9182100" cy="48260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9CA3AF"/>
                  </a:solidFill>
                  <a:latin typeface="Clear Sans Bold"/>
                  <a:ea typeface="Clear Sans Bold"/>
                  <a:cs typeface="Clear Sans Bold"/>
                  <a:sym typeface="Clear Sans Bold"/>
                </a:rPr>
                <a:t>CHAPITRE 3 : SIMULATION DU RÉSEAU</a:t>
              </a:r>
            </a:p>
          </p:txBody>
        </p:sp>
        <p:sp>
          <p:nvSpPr>
            <p:cNvPr name="TextBox 4" id="4"/>
            <p:cNvSpPr txBox="true"/>
            <p:nvPr/>
          </p:nvSpPr>
          <p:spPr>
            <a:xfrm rot="0">
              <a:off x="0" y="1141095"/>
              <a:ext cx="9182100" cy="2760345"/>
            </a:xfrm>
            <a:prstGeom prst="rect">
              <a:avLst/>
            </a:prstGeom>
          </p:spPr>
          <p:txBody>
            <a:bodyPr anchor="t" rtlCol="false" tIns="0" lIns="0" bIns="0" rIns="0">
              <a:spAutoFit/>
            </a:bodyPr>
            <a:lstStyle/>
            <a:p>
              <a:pPr algn="l" marL="0" indent="0" lvl="0">
                <a:lnSpc>
                  <a:spcPts val="3359"/>
                </a:lnSpc>
                <a:spcBef>
                  <a:spcPct val="0"/>
                </a:spcBef>
              </a:pPr>
              <a:r>
                <a:rPr lang="en-US" sz="2399" strike="noStrike" u="none">
                  <a:solidFill>
                    <a:srgbClr val="F9FAFB"/>
                  </a:solidFill>
                  <a:latin typeface="Clear Sans"/>
                  <a:ea typeface="Clear Sans"/>
                  <a:cs typeface="Clear Sans"/>
                  <a:sym typeface="Clear Sans"/>
                </a:rPr>
                <a:t>Routeur R1 — Fa0/0 : 192.168.80.1/24, Se0/0 : 10.10.10.1/30, OSPF activé. Routeur R2 — Fa0/0 : 192.168.60.1/24, Se0/0 : 10.10.10.2/30, OSPF activé. DHCP : pool 192.168.80.10-100 (site 1) et 192.168.60.10-100 (site 2).</a:t>
              </a:r>
            </a:p>
          </p:txBody>
        </p:sp>
      </p:grpSp>
      <p:grpSp>
        <p:nvGrpSpPr>
          <p:cNvPr name="Group 5" id="5"/>
          <p:cNvGrpSpPr/>
          <p:nvPr/>
        </p:nvGrpSpPr>
        <p:grpSpPr>
          <a:xfrm rot="0">
            <a:off x="9296400" y="1562100"/>
            <a:ext cx="6886575" cy="3764280"/>
            <a:chOff x="0" y="0"/>
            <a:chExt cx="9182100" cy="5019040"/>
          </a:xfrm>
        </p:grpSpPr>
        <p:sp>
          <p:nvSpPr>
            <p:cNvPr name="TextBox 6" id="6"/>
            <p:cNvSpPr txBox="true"/>
            <p:nvPr/>
          </p:nvSpPr>
          <p:spPr>
            <a:xfrm rot="0">
              <a:off x="0" y="0"/>
              <a:ext cx="9182100" cy="48260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9CA3AF"/>
                  </a:solidFill>
                  <a:latin typeface="Clear Sans Bold"/>
                  <a:ea typeface="Clear Sans Bold"/>
                  <a:cs typeface="Clear Sans Bold"/>
                  <a:sym typeface="Clear Sans Bold"/>
                </a:rPr>
                <a:t>CONFIGURATION ET TESTS DE CONNECTIVITÉ</a:t>
              </a:r>
            </a:p>
          </p:txBody>
        </p:sp>
        <p:sp>
          <p:nvSpPr>
            <p:cNvPr name="TextBox 7" id="7"/>
            <p:cNvSpPr txBox="true"/>
            <p:nvPr/>
          </p:nvSpPr>
          <p:spPr>
            <a:xfrm rot="0">
              <a:off x="0" y="1141095"/>
              <a:ext cx="9182100" cy="3877945"/>
            </a:xfrm>
            <a:prstGeom prst="rect">
              <a:avLst/>
            </a:prstGeom>
          </p:spPr>
          <p:txBody>
            <a:bodyPr anchor="t" rtlCol="false" tIns="0" lIns="0" bIns="0" rIns="0">
              <a:spAutoFit/>
            </a:bodyPr>
            <a:lstStyle/>
            <a:p>
              <a:pPr algn="l" marL="0" indent="0" lvl="0">
                <a:lnSpc>
                  <a:spcPts val="3359"/>
                </a:lnSpc>
                <a:spcBef>
                  <a:spcPct val="0"/>
                </a:spcBef>
              </a:pPr>
              <a:r>
                <a:rPr lang="en-US" sz="2399" strike="noStrike" u="none">
                  <a:solidFill>
                    <a:srgbClr val="F9FAFB"/>
                  </a:solidFill>
                  <a:latin typeface="Clear Sans"/>
                  <a:ea typeface="Clear Sans"/>
                  <a:cs typeface="Clear Sans"/>
                  <a:sym typeface="Clear Sans"/>
                </a:rPr>
                <a:t>Automatisation IoT : fenêtre s'ouvre si température &gt; 28°C. Alarme se déclenche si détecteur de mouvement actif la nuit. Patient appuie sur smartphone → sirène activée depuis la salle de contrôle. Test ping inter-sites → succès (4/4). Webcam opérationnelle depuis la salle de contrôle.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grpSp>
        <p:nvGrpSpPr>
          <p:cNvPr name="Group 2" id="2"/>
          <p:cNvGrpSpPr/>
          <p:nvPr/>
        </p:nvGrpSpPr>
        <p:grpSpPr>
          <a:xfrm rot="0">
            <a:off x="666750" y="1562100"/>
            <a:ext cx="8324850" cy="5661660"/>
            <a:chOff x="0" y="0"/>
            <a:chExt cx="11099800" cy="7548880"/>
          </a:xfrm>
        </p:grpSpPr>
        <p:sp>
          <p:nvSpPr>
            <p:cNvPr name="TextBox 3" id="3"/>
            <p:cNvSpPr txBox="true"/>
            <p:nvPr/>
          </p:nvSpPr>
          <p:spPr>
            <a:xfrm rot="0">
              <a:off x="0" y="0"/>
              <a:ext cx="11099800" cy="2819400"/>
            </a:xfrm>
            <a:prstGeom prst="rect">
              <a:avLst/>
            </a:prstGeom>
          </p:spPr>
          <p:txBody>
            <a:bodyPr anchor="t" rtlCol="false" tIns="0" lIns="0" bIns="0" rIns="0">
              <a:spAutoFit/>
            </a:bodyPr>
            <a:lstStyle/>
            <a:p>
              <a:pPr algn="l" marL="0" indent="0" lvl="0">
                <a:lnSpc>
                  <a:spcPts val="8399"/>
                </a:lnSpc>
                <a:spcBef>
                  <a:spcPct val="0"/>
                </a:spcBef>
              </a:pPr>
              <a:r>
                <a:rPr lang="en-US" sz="6999" spc="-139" strike="noStrike" u="none">
                  <a:solidFill>
                    <a:srgbClr val="3B82F6"/>
                  </a:solidFill>
                  <a:latin typeface="Tenor Sans"/>
                  <a:ea typeface="Tenor Sans"/>
                  <a:cs typeface="Tenor Sans"/>
                  <a:sym typeface="Tenor Sans"/>
                </a:rPr>
                <a:t>Conclusion Générale</a:t>
              </a:r>
            </a:p>
          </p:txBody>
        </p:sp>
        <p:sp>
          <p:nvSpPr>
            <p:cNvPr name="TextBox 4" id="4"/>
            <p:cNvSpPr txBox="true"/>
            <p:nvPr/>
          </p:nvSpPr>
          <p:spPr>
            <a:xfrm rot="0">
              <a:off x="0" y="3581364"/>
              <a:ext cx="11099800" cy="482600"/>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9CA3AF"/>
                  </a:solidFill>
                  <a:latin typeface="Clear Sans Bold"/>
                  <a:ea typeface="Clear Sans Bold"/>
                  <a:cs typeface="Clear Sans Bold"/>
                  <a:sym typeface="Clear Sans Bold"/>
                </a:rPr>
                <a:t>BILAN ET PERSPECTIVES</a:t>
              </a:r>
            </a:p>
          </p:txBody>
        </p:sp>
        <p:sp>
          <p:nvSpPr>
            <p:cNvPr name="TextBox 5" id="5"/>
            <p:cNvSpPr txBox="true"/>
            <p:nvPr/>
          </p:nvSpPr>
          <p:spPr>
            <a:xfrm rot="0">
              <a:off x="0" y="4600575"/>
              <a:ext cx="11099800" cy="294830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strike="noStrike" u="none">
                  <a:solidFill>
                    <a:srgbClr val="F9FAFB"/>
                  </a:solidFill>
                  <a:latin typeface="Clear Sans"/>
                  <a:ea typeface="Clear Sans"/>
                  <a:cs typeface="Clear Sans"/>
                  <a:sym typeface="Clear Sans"/>
                </a:rPr>
                <a:t>Ce projet a permis de concevoir une solution IoT hospitalière complète et fonctionnelle. Nous avons maîtrisé la configuration réseau (DHCP, OSPF), l'automatisation des objets connectés et la surveillance à distance via Packet Tracer. En perspective : sécurisation par VLANs, authentification des accès et intégration d'un tableau de bord de monitoring en temps réel.</a:t>
              </a:r>
            </a:p>
          </p:txBody>
        </p:sp>
      </p:grpSp>
      <p:sp>
        <p:nvSpPr>
          <p:cNvPr name="Freeform 6" id="6"/>
          <p:cNvSpPr/>
          <p:nvPr/>
        </p:nvSpPr>
        <p:spPr>
          <a:xfrm flipH="false" flipV="false" rot="0">
            <a:off x="15150568"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2937"/>
        </a:solidFill>
      </p:bgPr>
    </p:bg>
    <p:spTree>
      <p:nvGrpSpPr>
        <p:cNvPr id="1" name=""/>
        <p:cNvGrpSpPr/>
        <p:nvPr/>
      </p:nvGrpSpPr>
      <p:grpSpPr>
        <a:xfrm>
          <a:off x="0" y="0"/>
          <a:ext cx="0" cy="0"/>
          <a:chOff x="0" y="0"/>
          <a:chExt cx="0" cy="0"/>
        </a:xfrm>
      </p:grpSpPr>
      <p:sp>
        <p:nvSpPr>
          <p:cNvPr name="Freeform 2" id="2"/>
          <p:cNvSpPr/>
          <p:nvPr/>
        </p:nvSpPr>
        <p:spPr>
          <a:xfrm flipH="false" flipV="false" rot="-2926989">
            <a:off x="-12431368" y="-897596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111384">
            <a:off x="13680135" y="1098024"/>
            <a:ext cx="12122938" cy="11672351"/>
          </a:xfrm>
          <a:custGeom>
            <a:avLst/>
            <a:gdLst/>
            <a:ahLst/>
            <a:cxnLst/>
            <a:rect r="r" b="b" t="t" l="l"/>
            <a:pathLst>
              <a:path h="11672351" w="12122938">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66750" y="757782"/>
            <a:ext cx="11201400" cy="4229100"/>
          </a:xfrm>
          <a:prstGeom prst="rect">
            <a:avLst/>
          </a:prstGeom>
        </p:spPr>
        <p:txBody>
          <a:bodyPr anchor="t" rtlCol="false" tIns="0" lIns="0" bIns="0" rIns="0">
            <a:spAutoFit/>
          </a:bodyPr>
          <a:lstStyle/>
          <a:p>
            <a:pPr algn="l" marL="0" indent="0" lvl="0">
              <a:lnSpc>
                <a:spcPts val="8399"/>
              </a:lnSpc>
              <a:spcBef>
                <a:spcPct val="0"/>
              </a:spcBef>
            </a:pPr>
            <a:r>
              <a:rPr lang="en-US" sz="6999" spc="-139" strike="noStrike" u="none">
                <a:solidFill>
                  <a:srgbClr val="3B82F6"/>
                </a:solidFill>
                <a:latin typeface="Tenor Sans"/>
                <a:ea typeface="Tenor Sans"/>
                <a:cs typeface="Tenor Sans"/>
                <a:sym typeface="Tenor Sans"/>
              </a:rPr>
              <a:t>Faculté des Sciences de Monastir</a:t>
            </a:r>
          </a:p>
          <a:p>
            <a:pPr algn="l" marL="0" indent="0" lvl="0">
              <a:lnSpc>
                <a:spcPts val="8399"/>
              </a:lnSpc>
              <a:spcBef>
                <a:spcPct val="0"/>
              </a:spcBef>
            </a:pPr>
            <a:r>
              <a:rPr lang="en-US" sz="6999" spc="-139" strike="noStrike" u="none">
                <a:solidFill>
                  <a:srgbClr val="3B82F6"/>
                </a:solidFill>
                <a:latin typeface="Tenor Sans"/>
                <a:ea typeface="Tenor Sans"/>
                <a:cs typeface="Tenor Sans"/>
                <a:sym typeface="Tenor Sans"/>
              </a:rPr>
              <a:t>Mini Projet – Fondements Des Réseaux</a:t>
            </a:r>
          </a:p>
        </p:txBody>
      </p:sp>
      <p:grpSp>
        <p:nvGrpSpPr>
          <p:cNvPr name="Group 5" id="5"/>
          <p:cNvGrpSpPr/>
          <p:nvPr/>
        </p:nvGrpSpPr>
        <p:grpSpPr>
          <a:xfrm rot="0">
            <a:off x="666750" y="5143500"/>
            <a:ext cx="8324850" cy="3465218"/>
            <a:chOff x="0" y="0"/>
            <a:chExt cx="11099800" cy="4620291"/>
          </a:xfrm>
        </p:grpSpPr>
        <p:sp>
          <p:nvSpPr>
            <p:cNvPr name="TextBox 6" id="6"/>
            <p:cNvSpPr txBox="true"/>
            <p:nvPr/>
          </p:nvSpPr>
          <p:spPr>
            <a:xfrm rot="0">
              <a:off x="0" y="-76200"/>
              <a:ext cx="11099800" cy="563880"/>
            </a:xfrm>
            <a:prstGeom prst="rect">
              <a:avLst/>
            </a:prstGeom>
          </p:spPr>
          <p:txBody>
            <a:bodyPr anchor="t" rtlCol="false" tIns="0" lIns="0" bIns="0" rIns="0">
              <a:spAutoFit/>
            </a:bodyPr>
            <a:lstStyle/>
            <a:p>
              <a:pPr algn="l" marL="0" indent="0" lvl="0">
                <a:lnSpc>
                  <a:spcPts val="3600"/>
                </a:lnSpc>
                <a:spcBef>
                  <a:spcPct val="0"/>
                </a:spcBef>
              </a:pPr>
              <a:r>
                <a:rPr lang="en-US" b="true" sz="2400" strike="noStrike" u="none">
                  <a:solidFill>
                    <a:srgbClr val="9CA3AF"/>
                  </a:solidFill>
                  <a:latin typeface="Clear Sans Bold"/>
                  <a:ea typeface="Clear Sans Bold"/>
                  <a:cs typeface="Clear Sans Bold"/>
                  <a:sym typeface="Clear Sans Bold"/>
                </a:rPr>
                <a:t>ÉTABLISSEMENT</a:t>
              </a:r>
            </a:p>
          </p:txBody>
        </p:sp>
        <p:sp>
          <p:nvSpPr>
            <p:cNvPr name="TextBox 7" id="7"/>
            <p:cNvSpPr txBox="true"/>
            <p:nvPr/>
          </p:nvSpPr>
          <p:spPr>
            <a:xfrm rot="0">
              <a:off x="0" y="567135"/>
              <a:ext cx="11099800" cy="47180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9FAFB"/>
                  </a:solidFill>
                  <a:latin typeface="Clear Sans"/>
                  <a:ea typeface="Clear Sans"/>
                  <a:cs typeface="Clear Sans"/>
                  <a:sym typeface="Clear Sans"/>
                </a:rPr>
                <a:t>Faculté des Sciences de Monastir – FSM</a:t>
              </a:r>
            </a:p>
          </p:txBody>
        </p:sp>
        <p:sp>
          <p:nvSpPr>
            <p:cNvPr name="TextBox 8" id="8"/>
            <p:cNvSpPr txBox="true"/>
            <p:nvPr/>
          </p:nvSpPr>
          <p:spPr>
            <a:xfrm rot="0">
              <a:off x="0" y="1714475"/>
              <a:ext cx="11099800" cy="563880"/>
            </a:xfrm>
            <a:prstGeom prst="rect">
              <a:avLst/>
            </a:prstGeom>
          </p:spPr>
          <p:txBody>
            <a:bodyPr anchor="t" rtlCol="false" tIns="0" lIns="0" bIns="0" rIns="0">
              <a:spAutoFit/>
            </a:bodyPr>
            <a:lstStyle/>
            <a:p>
              <a:pPr algn="l" marL="0" indent="0" lvl="0">
                <a:lnSpc>
                  <a:spcPts val="3600"/>
                </a:lnSpc>
                <a:spcBef>
                  <a:spcPct val="0"/>
                </a:spcBef>
              </a:pPr>
              <a:r>
                <a:rPr lang="en-US" b="true" sz="2400" strike="noStrike" u="none">
                  <a:solidFill>
                    <a:srgbClr val="9CA3AF"/>
                  </a:solidFill>
                  <a:latin typeface="Clear Sans Bold"/>
                  <a:ea typeface="Clear Sans Bold"/>
                  <a:cs typeface="Clear Sans Bold"/>
                  <a:sym typeface="Clear Sans Bold"/>
                </a:rPr>
                <a:t>MODULE</a:t>
              </a:r>
            </a:p>
          </p:txBody>
        </p:sp>
        <p:sp>
          <p:nvSpPr>
            <p:cNvPr name="TextBox 9" id="9"/>
            <p:cNvSpPr txBox="true"/>
            <p:nvPr/>
          </p:nvSpPr>
          <p:spPr>
            <a:xfrm rot="0">
              <a:off x="0" y="2357810"/>
              <a:ext cx="11099800" cy="47180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9FAFB"/>
                  </a:solidFill>
                  <a:latin typeface="Clear Sans"/>
                  <a:ea typeface="Clear Sans"/>
                  <a:cs typeface="Clear Sans"/>
                  <a:sym typeface="Clear Sans"/>
                </a:rPr>
                <a:t>Fondements Des Réseaux</a:t>
              </a:r>
            </a:p>
          </p:txBody>
        </p:sp>
        <p:sp>
          <p:nvSpPr>
            <p:cNvPr name="TextBox 10" id="10"/>
            <p:cNvSpPr txBox="true"/>
            <p:nvPr/>
          </p:nvSpPr>
          <p:spPr>
            <a:xfrm rot="0">
              <a:off x="0" y="3505150"/>
              <a:ext cx="11099800" cy="563880"/>
            </a:xfrm>
            <a:prstGeom prst="rect">
              <a:avLst/>
            </a:prstGeom>
          </p:spPr>
          <p:txBody>
            <a:bodyPr anchor="t" rtlCol="false" tIns="0" lIns="0" bIns="0" rIns="0">
              <a:spAutoFit/>
            </a:bodyPr>
            <a:lstStyle/>
            <a:p>
              <a:pPr algn="l" marL="0" indent="0" lvl="0">
                <a:lnSpc>
                  <a:spcPts val="3600"/>
                </a:lnSpc>
                <a:spcBef>
                  <a:spcPct val="0"/>
                </a:spcBef>
              </a:pPr>
              <a:r>
                <a:rPr lang="en-US" b="true" sz="2400" strike="noStrike" u="none">
                  <a:solidFill>
                    <a:srgbClr val="9CA3AF"/>
                  </a:solidFill>
                  <a:latin typeface="Clear Sans Bold"/>
                  <a:ea typeface="Clear Sans Bold"/>
                  <a:cs typeface="Clear Sans Bold"/>
                  <a:sym typeface="Clear Sans Bold"/>
                </a:rPr>
                <a:t>ANNÉE UNIVERSITAIRE</a:t>
              </a:r>
            </a:p>
          </p:txBody>
        </p:sp>
        <p:sp>
          <p:nvSpPr>
            <p:cNvPr name="TextBox 11" id="11"/>
            <p:cNvSpPr txBox="true"/>
            <p:nvPr/>
          </p:nvSpPr>
          <p:spPr>
            <a:xfrm rot="0">
              <a:off x="0" y="4148486"/>
              <a:ext cx="11099800" cy="47180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F9FAFB"/>
                  </a:solidFill>
                  <a:latin typeface="Clear Sans"/>
                  <a:ea typeface="Clear Sans"/>
                  <a:cs typeface="Clear Sans"/>
                  <a:sym typeface="Clear Sans"/>
                </a:rPr>
                <a:t>2025 / 2026</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Présentation - Mini Projet: Fondements Des Réseaux</dc:description>
  <dc:identifier>DAHH_DLCe20</dc:identifier>
  <dcterms:modified xsi:type="dcterms:W3CDTF">2011-08-01T06:04:30Z</dcterms:modified>
  <cp:revision>1</cp:revision>
  <dc:title>Présentation - Mini Projet: Fondements Des Réseaux</dc:title>
</cp:coreProperties>
</file>